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ae3ca51c834d2d" /><Relationship Type="http://schemas.openxmlformats.org/officeDocument/2006/relationships/extended-properties" Target="/docProps/app.xml" Id="R2d39354167e04495" /><Relationship Type="http://schemas.openxmlformats.org/officeDocument/2006/relationships/officeDocument" Target="/ppt/presentation.xml" Id="Rc1696396f13d4b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9d1484f3de4028"/>
  </p:sldMasterIdLst>
  <p:notesMasterIdLst>
    <p:notesMasterId xmlns:r="http://schemas.openxmlformats.org/officeDocument/2006/relationships" r:id="Rb34ac122ecaa4d90"/>
  </p:notesMasterIdLst>
  <p:sldIdLst>
    <p:sldId xmlns:r="http://schemas.openxmlformats.org/officeDocument/2006/relationships" id="256" r:id="R8d184d3eb59f4e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d7ae42f2d048a8" /><Relationship Type="http://schemas.openxmlformats.org/officeDocument/2006/relationships/slideMaster" Target="/ppt/slideMasters/slideMaster1.xml" Id="R009d1484f3de4028" /><Relationship Type="http://schemas.openxmlformats.org/officeDocument/2006/relationships/notesMaster" Target="/ppt/notesMasters/notesMaster1.xml" Id="Rb34ac122ecaa4d90" /><Relationship Type="http://schemas.openxmlformats.org/officeDocument/2006/relationships/presProps" Target="/ppt/presProps.xml" Id="R1d502c6023c74d53" /><Relationship Type="http://schemas.openxmlformats.org/officeDocument/2006/relationships/tableStyles" Target="/ppt/tableStyles.xml" Id="R69db33567adb418f" /><Relationship Type="http://schemas.openxmlformats.org/officeDocument/2006/relationships/slide" Target="/ppt/slides/slide1.xml" Id="R8d184d3eb59f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28f449526a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230dbbffe44464" /><Relationship Type="http://schemas.openxmlformats.org/officeDocument/2006/relationships/notesMaster" Target="/ppt/notesMasters/notesMaster1.xml" Id="Ra521d84f23b54f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Marketing slide for Tool Life Optimizer.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claims are limited to the implemented local Python application: turning and milling modes, fixed-condition Taylor life profiles, finite-batch integer tooling, machine and available-time constraints, deterministic bounded multistart hill climbing, baseline comparison, saved scenarios and JSON/CSV run exports. The result is the best feasible grid point found; it is not a global-optimum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chart is an illustrative synthetic turning profile from the app demonstration inputs (vref 180 m/min, life 30 cutting minutes, Taylor exponent 0.25). It is not a supplier recommendation or measured production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sources:</a:t>
            </a:r>
          </a:p>
          <a:p xmlns:a="http://schemas.openxmlformats.org/drawingml/2006/main">
            <a:r>
              <a:t>- Sandvik Coromant turning formulas: https://www.sandvik.coromant.com/en-gb/knowledge/machining-formulas-definitions/general-turning-formulas-definitions</a:t>
            </a:r>
          </a:p>
          <a:p xmlns:a="http://schemas.openxmlformats.org/drawingml/2006/main">
            <a:r>
              <a:t>- Sandvik Coromant milling formulas: https://www.sandvik.coromant.com/en-gb/knowledge/machining-formulas-definitions/milling-formulas-definitions</a:t>
            </a:r>
          </a:p>
          <a:p xmlns:a="http://schemas.openxmlformats.org/drawingml/2006/main">
            <a:r>
              <a:t>- Sandvik workpiece materials: https://www.sandvik.coromant.com/en-gb/knowledge/materials/workpiece-materials</a:t>
            </a:r>
          </a:p>
          <a:p xmlns:a="http://schemas.openxmlformats.org/drawingml/2006/main">
            <a:r>
              <a:t>- Autodesk Fusion Tool Library UI: https://help.autodesk.com/cloudhelp/ENU/Fusion-CAM/files/MFG-TOOL-LIBRARY-OVERVIEW.htm</a:t>
            </a:r>
          </a:p>
          <a:p xmlns:a="http://schemas.openxmlformats.org/drawingml/2006/main">
            <a:r>
              <a:t>- Siemens NX manufacturing planning UI: https://blogs.sw.siemens.com/designcenter/whats-new-june-2024-manufacturing-planning/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081ff96ae47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944527c304737" /><Relationship Type="http://schemas.openxmlformats.org/officeDocument/2006/relationships/slideLayout" Target="/ppt/slideLayouts/slideLayout1.xml" Id="R75bfd5df4f5f49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fd5df4f5f49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f92d13c264dbb" /><Relationship Type="http://schemas.openxmlformats.org/officeDocument/2006/relationships/chart" Target="/ppt/slides/charts/chart1.xml" Id="R1fa773af886b41f9" /><Relationship Type="http://schemas.openxmlformats.org/officeDocument/2006/relationships/notesSlide" Target="/ppt/notesSlides/notesSlide1.xml" Id="R65d13ba8daf345d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Illustrative tool life</c:v>
          </c:tx>
          <c:spPr>
            <a:solidFill xmlns:a="http://schemas.openxmlformats.org/drawingml/2006/main">
              <a:srgbClr val="087F83"/>
            </a:solidFill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60</c:v>
                </c:pt>
                <c:pt idx="1">
                  <c:v>90</c:v>
                </c:pt>
                <c:pt idx="2">
                  <c:v>120</c:v>
                </c:pt>
                <c:pt idx="3">
                  <c:v>150</c:v>
                </c:pt>
                <c:pt idx="4">
                  <c:v>180</c:v>
                </c:pt>
                <c:pt idx="5">
                  <c:v>210</c:v>
                </c:pt>
                <c:pt idx="6">
                  <c:v>240</c:v>
                </c:pt>
                <c:pt idx="7">
                  <c:v>270</c:v>
                </c:pt>
                <c:pt idx="8">
                  <c:v>300</c:v>
                </c:pt>
              </c:numCache>
            </c:num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2430</c:v>
                </c:pt>
                <c:pt idx="1">
                  <c:v>480</c:v>
                </c:pt>
                <c:pt idx="2">
                  <c:v>151.88</c:v>
                </c:pt>
                <c:pt idx="3">
                  <c:v>62.21</c:v>
                </c:pt>
                <c:pt idx="4">
                  <c:v>30</c:v>
                </c:pt>
                <c:pt idx="5">
                  <c:v>16.19</c:v>
                </c:pt>
                <c:pt idx="6">
                  <c:v>9.49</c:v>
                </c:pt>
                <c:pt idx="7">
                  <c:v>5.93</c:v>
                </c:pt>
                <c:pt idx="8">
                  <c:v>3.89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2E6D3-0051-4A4B-AE33-A50A7B7C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695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F83"/>
                </a:solidFill>
                <a:latin typeface="Arial"/>
                <a:ea typeface="Arial"/>
                <a:cs typeface="Arial"/>
              </a:rPr>
              <a:t>MACHINING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1C993-AEE6-432E-82BB-BD9B51A0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82C3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82C3D"/>
                </a:solidFill>
                <a:latin typeface="Arial"/>
                <a:ea typeface="Arial"/>
                <a:cs typeface="Arial"/>
              </a:rPr>
              <a:t>Cutting speed and tool life,</a:t>
            </a:r>
          </a:p>
          <a:p xmlns:a="http://schemas.openxmlformats.org/drawingml/2006/main">
            <a:pPr>
              <a:defRPr sz="2700" b="1" i="0">
                <a:solidFill>
                  <a:srgbClr val="182C3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82C3D"/>
                </a:solidFill>
                <a:latin typeface="Arial"/>
                <a:ea typeface="Arial"/>
                <a:cs typeface="Arial"/>
              </a:rPr>
              <a:t>planned around demand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9D8FC-0C31-4059-B846-0C89856C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1"/>
                </a:solidFill>
                <a:latin typeface="Arial"/>
                <a:ea typeface="Arial"/>
                <a:cs typeface="Arial"/>
              </a:rPr>
              <a:t>A focused decision aid for manufacturing teams balancing wear, capacity and finite-batch economics.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778A2-487F-493D-9AF3-7536EF9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C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2C3D"/>
                </a:solidFill>
                <a:latin typeface="Arial"/>
                <a:ea typeface="Arial"/>
                <a:cs typeface="Arial"/>
              </a:rPr>
              <a:t>What planners can evaluate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F00AF-21BA-4EBB-8415-A506B5B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609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1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14B5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14B5B"/>
                </a:solidFill>
                <a:latin typeface="Arial"/>
                <a:ea typeface="Arial"/>
                <a:cs typeface="Arial"/>
              </a:rPr>
              <a:t>TURNING + MILLING</a:t>
            </a:r>
          </a:p>
          <a:p xmlns:a="http://schemas.openxmlformats.org/drawingml/2006/main">
            <a:pPr>
              <a:defRPr sz="1200" b="0" i="0">
                <a:solidFill>
                  <a:srgbClr val="314B5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14B5B"/>
                </a:solidFill>
                <a:latin typeface="Arial"/>
                <a:ea typeface="Arial"/>
                <a:cs typeface="Arial"/>
              </a:rPr>
              <a:t>Separate fixed-condition operating modes with independent tool-life calibration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 i="0">
                <a:solidFill>
                  <a:srgbClr val="314B5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14B5B"/>
                </a:solidFill>
                <a:latin typeface="Arial"/>
                <a:ea typeface="Arial"/>
                <a:cs typeface="Arial"/>
              </a:rPr>
              <a:t>DEMAND + CAPACITY</a:t>
            </a:r>
          </a:p>
          <a:p xmlns:a="http://schemas.openxmlformats.org/drawingml/2006/main">
            <a:pPr>
              <a:defRPr sz="1200" b="0" i="0">
                <a:solidFill>
                  <a:srgbClr val="314B5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14B5B"/>
                </a:solidFill>
                <a:latin typeface="Arial"/>
                <a:ea typeface="Arial"/>
                <a:cs typeface="Arial"/>
              </a:rPr>
              <a:t>Finite-batch tooling, machine limits and available-time feasibility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 i="0">
                <a:solidFill>
                  <a:srgbClr val="314B5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14B5B"/>
                </a:solidFill>
                <a:latin typeface="Arial"/>
                <a:ea typeface="Arial"/>
                <a:cs typeface="Arial"/>
              </a:rPr>
              <a:t>DECISION RECORD</a:t>
            </a:r>
          </a:p>
          <a:p xmlns:a="http://schemas.openxmlformats.org/drawingml/2006/main">
            <a:pPr>
              <a:defRPr sz="1200" b="0" i="0">
                <a:solidFill>
                  <a:srgbClr val="314B5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14B5B"/>
                </a:solidFill>
                <a:latin typeface="Arial"/>
                <a:ea typeface="Arial"/>
                <a:cs typeface="Arial"/>
              </a:rPr>
              <a:t>Baseline comparison, search trace and JSON / CSV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C1042-D5A9-48D6-8BDB-DB64B7E7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F83"/>
                </a:solidFill>
                <a:latin typeface="Arial"/>
                <a:ea typeface="Arial"/>
                <a:cs typeface="Arial"/>
              </a:rPr>
              <a:t>Best feasible grid point found by deterministic multistart hill climbing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D21B8-55C3-4D4D-A3DC-16C7AE2F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 i="1">
                <a:solidFill>
                  <a:srgbClr val="657583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657583"/>
                </a:solidFill>
                <a:latin typeface="Arial"/>
                <a:ea typeface="Arial"/>
                <a:cs typeface="Arial"/>
              </a:rPr>
              <a:t>Illustrative profile shown. Calibrate with measured or supplier-specific data before production use.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0" y="685800"/>
          <a:ext xmlns:a="http://schemas.openxmlformats.org/drawingml/2006/main" cx="4286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a773af886b41f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A2D57-A571-44D1-AC6C-702E7D03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292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2C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82C3D"/>
                </a:solidFill>
                <a:latin typeface="Arial"/>
                <a:ea typeface="Arial"/>
                <a:cs typeface="Arial"/>
              </a:rPr>
              <a:t>Illustrative tool-life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1DB21-4F53-49BD-BAF6-A06AF56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149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1"/>
                </a:solidFill>
                <a:latin typeface="Arial"/>
                <a:ea typeface="Arial"/>
                <a:cs typeface="Arial"/>
              </a:rPr>
              <a:t>Higher cutting speed shortens modeled life. The optimizer weighs that trade-off against cycle time, edge / set changes and demand feasibility.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A3013-881B-4116-BC3A-BC5B950B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1531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87F83"/>
                </a:solidFill>
                <a:latin typeface="Arial"/>
                <a:ea typeface="Arial"/>
                <a:cs typeface="Arial"/>
              </a:rPr>
              <a:t>Turning and milling use separate calibration profiles.</a:t>
            </a:r>
          </a:p>
        </p:txBody>
      </p:sp>
    </p:spTree>
    <p:extLst>
      <p:ext uri="{BB962C8B-B14F-4D97-AF65-F5344CB8AC3E}">
        <p14:creationId xmlns:p14="http://schemas.microsoft.com/office/powerpoint/2010/main" val="413866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2026-10-06T19:48:44.1390000Z</dcterms:created>
  <dcterms:modified xsi:type="dcterms:W3CDTF">2026-10-06T19:48:44.1390000Z</dcterms:modified>
</coreProperties>
</file>